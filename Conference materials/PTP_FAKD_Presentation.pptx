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1688" r:id="rId2"/>
    <p:sldId id="1689" r:id="rId3"/>
    <p:sldId id="1690" r:id="rId4"/>
    <p:sldId id="1691" r:id="rId5"/>
    <p:sldId id="1692" r:id="rId6"/>
    <p:sldId id="1693" r:id="rId7"/>
    <p:sldId id="1694" r:id="rId8"/>
    <p:sldId id="1695" r:id="rId9"/>
    <p:sldId id="1696" r:id="rId10"/>
    <p:sldId id="1697" r:id="rId11"/>
    <p:sldId id="1698" r:id="rId12"/>
    <p:sldId id="261" r:id="rId13"/>
    <p:sldId id="170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B3C"/>
    <a:srgbClr val="C73928"/>
    <a:srgbClr val="F18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72"/>
  </p:normalViewPr>
  <p:slideViewPr>
    <p:cSldViewPr snapToGrid="0">
      <p:cViewPr varScale="1">
        <p:scale>
          <a:sx n="99" d="100"/>
          <a:sy n="99" d="100"/>
        </p:scale>
        <p:origin x="992" y="1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39164-95B6-4F33-AC6F-18511F8EFBBD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E4010-A9C4-4AC1-A862-8B98D35993E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600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92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528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45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0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75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2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7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09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41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51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79C3-634C-49FA-9D29-4FA86ED0A3E4}" type="datetimeFigureOut">
              <a:rPr lang="en-IN" smtClean="0"/>
              <a:pPr/>
              <a:t>07/04/26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ACA-ABA0-4CE7-BE0D-23E9C1D5F9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451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H="1">
            <a:off x="2057006" y="6492194"/>
            <a:ext cx="9540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0" y="0"/>
            <a:ext cx="12191999" cy="66675"/>
          </a:xfrm>
          <a:prstGeom prst="rect">
            <a:avLst/>
          </a:prstGeom>
          <a:solidFill>
            <a:srgbClr val="C43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Museo 300" pitchFamily="50" charset="0"/>
            </a:endParaRPr>
          </a:p>
        </p:txBody>
      </p:sp>
      <p:sp>
        <p:nvSpPr>
          <p:cNvPr id="9" name="Freeform 6"/>
          <p:cNvSpPr>
            <a:spLocks noChangeAspect="1"/>
          </p:cNvSpPr>
          <p:nvPr userDrawn="1"/>
        </p:nvSpPr>
        <p:spPr bwMode="auto">
          <a:xfrm>
            <a:off x="0" y="190500"/>
            <a:ext cx="779272" cy="475488"/>
          </a:xfrm>
          <a:custGeom>
            <a:avLst/>
            <a:gdLst>
              <a:gd name="T0" fmla="*/ 381 w 708"/>
              <a:gd name="T1" fmla="*/ 0 h 432"/>
              <a:gd name="T2" fmla="*/ 0 w 708"/>
              <a:gd name="T3" fmla="*/ 0 h 432"/>
              <a:gd name="T4" fmla="*/ 0 w 708"/>
              <a:gd name="T5" fmla="*/ 379 h 432"/>
              <a:gd name="T6" fmla="*/ 0 w 708"/>
              <a:gd name="T7" fmla="*/ 432 h 432"/>
              <a:gd name="T8" fmla="*/ 708 w 708"/>
              <a:gd name="T9" fmla="*/ 432 h 432"/>
              <a:gd name="T10" fmla="*/ 381 w 708"/>
              <a:gd name="T11" fmla="*/ 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Museo 300" pitchFamily="50" charset="0"/>
            </a:endParaRPr>
          </a:p>
        </p:txBody>
      </p:sp>
      <p:sp>
        <p:nvSpPr>
          <p:cNvPr id="10" name="Freeform 14"/>
          <p:cNvSpPr>
            <a:spLocks/>
          </p:cNvSpPr>
          <p:nvPr userDrawn="1"/>
        </p:nvSpPr>
        <p:spPr bwMode="auto">
          <a:xfrm>
            <a:off x="574360" y="190119"/>
            <a:ext cx="680080" cy="609981"/>
          </a:xfrm>
          <a:custGeom>
            <a:avLst/>
            <a:gdLst>
              <a:gd name="T0" fmla="*/ 158 w 553"/>
              <a:gd name="T1" fmla="*/ 0 h 496"/>
              <a:gd name="T2" fmla="*/ 0 w 553"/>
              <a:gd name="T3" fmla="*/ 0 h 496"/>
              <a:gd name="T4" fmla="*/ 395 w 553"/>
              <a:gd name="T5" fmla="*/ 496 h 496"/>
              <a:gd name="T6" fmla="*/ 553 w 553"/>
              <a:gd name="T7" fmla="*/ 496 h 496"/>
              <a:gd name="T8" fmla="*/ 158 w 553"/>
              <a:gd name="T9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496">
                <a:moveTo>
                  <a:pt x="158" y="0"/>
                </a:moveTo>
                <a:lnTo>
                  <a:pt x="0" y="0"/>
                </a:lnTo>
                <a:lnTo>
                  <a:pt x="395" y="496"/>
                </a:lnTo>
                <a:lnTo>
                  <a:pt x="553" y="496"/>
                </a:lnTo>
                <a:lnTo>
                  <a:pt x="158" y="0"/>
                </a:lnTo>
                <a:close/>
              </a:path>
            </a:pathLst>
          </a:cu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Museo 300" pitchFamily="50" charset="0"/>
            </a:endParaRPr>
          </a:p>
        </p:txBody>
      </p:sp>
      <p:sp>
        <p:nvSpPr>
          <p:cNvPr id="11" name="Freeform 6"/>
          <p:cNvSpPr>
            <a:spLocks noChangeAspect="1"/>
          </p:cNvSpPr>
          <p:nvPr userDrawn="1"/>
        </p:nvSpPr>
        <p:spPr bwMode="auto">
          <a:xfrm>
            <a:off x="11597006" y="6482669"/>
            <a:ext cx="615126" cy="375331"/>
          </a:xfrm>
          <a:custGeom>
            <a:avLst/>
            <a:gdLst>
              <a:gd name="T0" fmla="*/ 381 w 708"/>
              <a:gd name="T1" fmla="*/ 0 h 432"/>
              <a:gd name="T2" fmla="*/ 0 w 708"/>
              <a:gd name="T3" fmla="*/ 0 h 432"/>
              <a:gd name="T4" fmla="*/ 0 w 708"/>
              <a:gd name="T5" fmla="*/ 379 h 432"/>
              <a:gd name="T6" fmla="*/ 0 w 708"/>
              <a:gd name="T7" fmla="*/ 432 h 432"/>
              <a:gd name="T8" fmla="*/ 708 w 708"/>
              <a:gd name="T9" fmla="*/ 432 h 432"/>
              <a:gd name="T10" fmla="*/ 381 w 708"/>
              <a:gd name="T11" fmla="*/ 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Museo 300" pitchFamily="50" charset="0"/>
            </a:endParaRP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11621977" y="6530294"/>
            <a:ext cx="40639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2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712EF7-039F-497C-B2F5-5E3D3FD47D7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seo 300" pitchFamily="50" charset="0"/>
                <a:ea typeface="+mn-ea"/>
                <a:cs typeface="+mn-cs"/>
              </a:rPr>
              <a:pPr marL="0" marR="0" lvl="0" indent="0" algn="ctr" defTabSz="9142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seo 300" pitchFamily="50" charset="0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57090" y="6574111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An Autonomous Institute</a:t>
            </a:r>
            <a:r>
              <a:rPr lang="en-IN" sz="1100" b="1" baseline="0" dirty="0">
                <a:solidFill>
                  <a:srgbClr val="C00000"/>
                </a:solidFill>
                <a:latin typeface="Museo 300" panose="02000000000000000000" pitchFamily="50" charset="0"/>
              </a:rPr>
              <a:t>, </a:t>
            </a:r>
            <a:r>
              <a:rPr lang="en-IN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Affiliated to VTU, </a:t>
            </a:r>
            <a:r>
              <a:rPr lang="en-IN" sz="1100" b="1" dirty="0" err="1">
                <a:solidFill>
                  <a:srgbClr val="C00000"/>
                </a:solidFill>
                <a:latin typeface="Museo 300" panose="02000000000000000000" pitchFamily="50" charset="0"/>
              </a:rPr>
              <a:t>Belagavi</a:t>
            </a:r>
            <a:r>
              <a:rPr lang="en-US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, </a:t>
            </a:r>
            <a:r>
              <a:rPr lang="en-IN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Approved By AICTE, New Delhi, Recognized by UGC with 2(f) &amp; 12(B) status</a:t>
            </a:r>
            <a:r>
              <a:rPr lang="en-US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, </a:t>
            </a:r>
            <a:r>
              <a:rPr lang="en-IN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Accredited By NBA and NAAC</a:t>
            </a:r>
            <a:endParaRPr lang="en-US" sz="1100" b="1" dirty="0">
              <a:solidFill>
                <a:srgbClr val="C00000"/>
              </a:solidFill>
              <a:latin typeface="Museo 300" panose="02000000000000000000" pitchFamily="50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90" y="5760490"/>
            <a:ext cx="1854925" cy="816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31413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H="1">
            <a:off x="2057006" y="6492194"/>
            <a:ext cx="9540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0" y="0"/>
            <a:ext cx="12191999" cy="66675"/>
          </a:xfrm>
          <a:prstGeom prst="rect">
            <a:avLst/>
          </a:prstGeom>
          <a:solidFill>
            <a:srgbClr val="C43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Museo 300" pitchFamily="50" charset="0"/>
            </a:endParaRPr>
          </a:p>
        </p:txBody>
      </p:sp>
      <p:sp>
        <p:nvSpPr>
          <p:cNvPr id="9" name="Freeform 6"/>
          <p:cNvSpPr>
            <a:spLocks noChangeAspect="1"/>
          </p:cNvSpPr>
          <p:nvPr userDrawn="1"/>
        </p:nvSpPr>
        <p:spPr bwMode="auto">
          <a:xfrm>
            <a:off x="0" y="190500"/>
            <a:ext cx="779272" cy="475488"/>
          </a:xfrm>
          <a:custGeom>
            <a:avLst/>
            <a:gdLst>
              <a:gd name="T0" fmla="*/ 381 w 708"/>
              <a:gd name="T1" fmla="*/ 0 h 432"/>
              <a:gd name="T2" fmla="*/ 0 w 708"/>
              <a:gd name="T3" fmla="*/ 0 h 432"/>
              <a:gd name="T4" fmla="*/ 0 w 708"/>
              <a:gd name="T5" fmla="*/ 379 h 432"/>
              <a:gd name="T6" fmla="*/ 0 w 708"/>
              <a:gd name="T7" fmla="*/ 432 h 432"/>
              <a:gd name="T8" fmla="*/ 708 w 708"/>
              <a:gd name="T9" fmla="*/ 432 h 432"/>
              <a:gd name="T10" fmla="*/ 381 w 708"/>
              <a:gd name="T11" fmla="*/ 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Museo 300" pitchFamily="50" charset="0"/>
            </a:endParaRPr>
          </a:p>
        </p:txBody>
      </p:sp>
      <p:sp>
        <p:nvSpPr>
          <p:cNvPr id="10" name="Freeform 14"/>
          <p:cNvSpPr>
            <a:spLocks/>
          </p:cNvSpPr>
          <p:nvPr userDrawn="1"/>
        </p:nvSpPr>
        <p:spPr bwMode="auto">
          <a:xfrm>
            <a:off x="574360" y="190119"/>
            <a:ext cx="680080" cy="609981"/>
          </a:xfrm>
          <a:custGeom>
            <a:avLst/>
            <a:gdLst>
              <a:gd name="T0" fmla="*/ 158 w 553"/>
              <a:gd name="T1" fmla="*/ 0 h 496"/>
              <a:gd name="T2" fmla="*/ 0 w 553"/>
              <a:gd name="T3" fmla="*/ 0 h 496"/>
              <a:gd name="T4" fmla="*/ 395 w 553"/>
              <a:gd name="T5" fmla="*/ 496 h 496"/>
              <a:gd name="T6" fmla="*/ 553 w 553"/>
              <a:gd name="T7" fmla="*/ 496 h 496"/>
              <a:gd name="T8" fmla="*/ 158 w 553"/>
              <a:gd name="T9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496">
                <a:moveTo>
                  <a:pt x="158" y="0"/>
                </a:moveTo>
                <a:lnTo>
                  <a:pt x="0" y="0"/>
                </a:lnTo>
                <a:lnTo>
                  <a:pt x="395" y="496"/>
                </a:lnTo>
                <a:lnTo>
                  <a:pt x="553" y="496"/>
                </a:lnTo>
                <a:lnTo>
                  <a:pt x="158" y="0"/>
                </a:lnTo>
                <a:close/>
              </a:path>
            </a:pathLst>
          </a:cu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Museo 300" pitchFamily="50" charset="0"/>
            </a:endParaRPr>
          </a:p>
        </p:txBody>
      </p:sp>
      <p:sp>
        <p:nvSpPr>
          <p:cNvPr id="11" name="Freeform 6"/>
          <p:cNvSpPr>
            <a:spLocks noChangeAspect="1"/>
          </p:cNvSpPr>
          <p:nvPr userDrawn="1"/>
        </p:nvSpPr>
        <p:spPr bwMode="auto">
          <a:xfrm>
            <a:off x="11597006" y="6482669"/>
            <a:ext cx="615126" cy="375331"/>
          </a:xfrm>
          <a:custGeom>
            <a:avLst/>
            <a:gdLst>
              <a:gd name="T0" fmla="*/ 381 w 708"/>
              <a:gd name="T1" fmla="*/ 0 h 432"/>
              <a:gd name="T2" fmla="*/ 0 w 708"/>
              <a:gd name="T3" fmla="*/ 0 h 432"/>
              <a:gd name="T4" fmla="*/ 0 w 708"/>
              <a:gd name="T5" fmla="*/ 379 h 432"/>
              <a:gd name="T6" fmla="*/ 0 w 708"/>
              <a:gd name="T7" fmla="*/ 432 h 432"/>
              <a:gd name="T8" fmla="*/ 708 w 708"/>
              <a:gd name="T9" fmla="*/ 432 h 432"/>
              <a:gd name="T10" fmla="*/ 381 w 708"/>
              <a:gd name="T11" fmla="*/ 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Museo 300" pitchFamily="50" charset="0"/>
            </a:endParaRP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11621977" y="6530294"/>
            <a:ext cx="40639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2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712EF7-039F-497C-B2F5-5E3D3FD47D7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seo 300" pitchFamily="50" charset="0"/>
                <a:ea typeface="+mn-ea"/>
                <a:cs typeface="+mn-cs"/>
              </a:rPr>
              <a:pPr marL="0" marR="0" lvl="0" indent="0" algn="ctr" defTabSz="9142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seo 300" pitchFamily="50" charset="0"/>
              <a:ea typeface="+mn-ea"/>
              <a:cs typeface="+mn-cs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634" y="5887094"/>
            <a:ext cx="1854925" cy="816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 userDrawn="1"/>
        </p:nvSpPr>
        <p:spPr>
          <a:xfrm>
            <a:off x="57090" y="6574111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An Autonomous Institute</a:t>
            </a:r>
            <a:r>
              <a:rPr lang="en-IN" sz="1100" b="1" baseline="0" dirty="0">
                <a:solidFill>
                  <a:srgbClr val="C00000"/>
                </a:solidFill>
                <a:latin typeface="Museo 300" panose="02000000000000000000" pitchFamily="50" charset="0"/>
              </a:rPr>
              <a:t>, </a:t>
            </a:r>
            <a:r>
              <a:rPr lang="en-IN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Affiliated to VTU, </a:t>
            </a:r>
            <a:r>
              <a:rPr lang="en-IN" sz="1100" b="1" dirty="0" err="1">
                <a:solidFill>
                  <a:srgbClr val="C00000"/>
                </a:solidFill>
                <a:latin typeface="Museo 300" panose="02000000000000000000" pitchFamily="50" charset="0"/>
              </a:rPr>
              <a:t>Belagavi</a:t>
            </a:r>
            <a:r>
              <a:rPr lang="en-US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, </a:t>
            </a:r>
            <a:r>
              <a:rPr lang="en-IN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Approved By AICTE, New Delhi, Recognized by UGC with 2(f) &amp; 12(B) status</a:t>
            </a:r>
            <a:r>
              <a:rPr lang="en-US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, </a:t>
            </a:r>
            <a:r>
              <a:rPr lang="en-IN" sz="1100" b="1" dirty="0">
                <a:solidFill>
                  <a:srgbClr val="C00000"/>
                </a:solidFill>
                <a:latin typeface="Museo 300" panose="02000000000000000000" pitchFamily="50" charset="0"/>
              </a:rPr>
              <a:t>Accredited By NBA and NAAC</a:t>
            </a:r>
            <a:endParaRPr lang="en-US" sz="1100" b="1" dirty="0">
              <a:solidFill>
                <a:srgbClr val="C00000"/>
              </a:solidFill>
              <a:latin typeface="Museo 300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40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useo 300" pitchFamily="50" charset="0"/>
              </a:defRPr>
            </a:lvl1pPr>
          </a:lstStyle>
          <a:p>
            <a:fld id="{21EC79C3-634C-49FA-9D29-4FA86ED0A3E4}" type="datetimeFigureOut">
              <a:rPr lang="en-IN" smtClean="0"/>
              <a:pPr/>
              <a:t>07/04/26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useo 300" pitchFamily="50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useo 300" pitchFamily="50" charset="0"/>
              </a:defRPr>
            </a:lvl1pPr>
          </a:lstStyle>
          <a:p>
            <a:fld id="{CF207ACA-ABA0-4CE7-BE0D-23E9C1D5F9E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62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useo 3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useo 3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useo 3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seo 3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seo 3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FF1F8-BDA8-2CB2-4FDE-11EACE4F3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559" y="217752"/>
            <a:ext cx="2624866" cy="1463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CEEA74-55CB-5A1B-EF6E-9C4E4EA49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636" y="130538"/>
            <a:ext cx="2817599" cy="1080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4011F2-7FB0-6E8D-DB40-5C8463AAF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7072" y="217752"/>
            <a:ext cx="1645576" cy="9064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4D3C3E-9AA8-C591-2F3F-5FC1B50995B8}"/>
              </a:ext>
            </a:extLst>
          </p:cNvPr>
          <p:cNvSpPr txBox="1"/>
          <p:nvPr/>
        </p:nvSpPr>
        <p:spPr>
          <a:xfrm>
            <a:off x="991890" y="1971835"/>
            <a:ext cx="106783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Recent Advancement in Electrical, Computer and </a:t>
            </a:r>
            <a:r>
              <a:rPr lang="en-IN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Technologies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EC2267-9FD9-413C-A4EB-582B7C72E2E0}"/>
              </a:ext>
            </a:extLst>
          </p:cNvPr>
          <p:cNvSpPr txBox="1"/>
          <p:nvPr/>
        </p:nvSpPr>
        <p:spPr>
          <a:xfrm>
            <a:off x="3270142" y="3167390"/>
            <a:ext cx="6121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IECCT 2026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7262C6-0CC2-77F9-A194-8346C1FDAE31}"/>
              </a:ext>
            </a:extLst>
          </p:cNvPr>
          <p:cNvSpPr txBox="1"/>
          <p:nvPr/>
        </p:nvSpPr>
        <p:spPr>
          <a:xfrm>
            <a:off x="5379559" y="5746333"/>
            <a:ext cx="2288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 - 1523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969E1E-D49C-4328-830E-B347945D0E7F}"/>
              </a:ext>
            </a:extLst>
          </p:cNvPr>
          <p:cNvSpPr txBox="1"/>
          <p:nvPr/>
        </p:nvSpPr>
        <p:spPr>
          <a:xfrm>
            <a:off x="996000" y="3986165"/>
            <a:ext cx="102000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Token Pruning with Feature-Aware Knowledge Distillation for Efficient Vision Transformers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3F5CB1-6F30-7CE4-0600-8492F92529BD}"/>
              </a:ext>
            </a:extLst>
          </p:cNvPr>
          <p:cNvSpPr txBox="1"/>
          <p:nvPr/>
        </p:nvSpPr>
        <p:spPr>
          <a:xfrm>
            <a:off x="152920" y="5377001"/>
            <a:ext cx="264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- April 11, 2026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67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00958-FADE-CB8D-5001-E57ECC59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13AD464-08C3-84E1-1EDB-FF55923D2802}"/>
              </a:ext>
            </a:extLst>
          </p:cNvPr>
          <p:cNvSpPr txBox="1">
            <a:spLocks/>
          </p:cNvSpPr>
          <p:nvPr/>
        </p:nvSpPr>
        <p:spPr>
          <a:xfrm>
            <a:off x="1566500" y="294480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</a:tabLst>
            </a:pPr>
            <a:r>
              <a:rPr lang="en-US" sz="2800" b="1" spc="-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Table of Contents</a:t>
            </a:r>
            <a:endParaRPr lang="en-US" sz="28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9595D4D6-0AA8-20F7-95DB-1B101AEA26AB}"/>
              </a:ext>
            </a:extLst>
          </p:cNvPr>
          <p:cNvSpPr txBox="1">
            <a:spLocks/>
          </p:cNvSpPr>
          <p:nvPr/>
        </p:nvSpPr>
        <p:spPr>
          <a:xfrm>
            <a:off x="838080" y="1376280"/>
            <a:ext cx="9682560" cy="446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useo 3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useo 3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useo 3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useo 3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useo 3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(PTP + FAKD)</a:t>
            </a:r>
            <a:endParaRPr lang="en-US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 marL="457200" indent="-4572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pPr marL="457200" indent="-4572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 algn="just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2096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1. Abstract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lnSpc>
                <a:spcPct val="11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Transformers (ViTs) achieve state-of-the-art accuracy but suffer from quadratic O(N²·d) self-attention complexity, limiting deployment on resource-constrained hardware.</a:t>
            </a:r>
          </a:p>
          <a:p>
            <a:pPr marL="342900" indent="-342900">
              <a:lnSpc>
                <a:spcPct val="11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Single-stage token pruning at the embedding layer causes significant accuracy degradation — tokens lack semantic content before deep processing.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paper presents PTP-FAKD — a two-component pipeline:</a:t>
            </a:r>
          </a:p>
          <a:p>
            <a:pPr marL="342900" indent="-342900">
              <a:lnSpc>
                <a:spcPct val="11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Progressive Token Pruning (PTP): Staggers token reduction across 3 encoder stages, ensuring pruning decisions are made on semantically enriched representations.</a:t>
            </a:r>
          </a:p>
          <a:p>
            <a:pPr marL="342900" indent="-342900">
              <a:lnSpc>
                <a:spcPct val="11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Feature-Aware Knowledge Distillation (FAKD): Aligns CLS token representations between sparse student and frozen dense teacher at each pruning boundary.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Result: On CIFAR-100 with ViT-B/16 — 89.60% top-1 accuracy at 50% token density and 0.265× attention FLOPs, surpassing the dense teacher by 2.57%.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2. Introduction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spcBef>
                <a:spcPts val="200"/>
              </a:spcBef>
              <a:buChar char="●"/>
            </a:pPr>
            <a:r>
              <a:rPr lang="en-US" sz="1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Transformers (ViTs) decompose images into fixed-size non-overlapping patches processed as sequential tokens through stacked encoder blocks.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ViT-B/16 on 224×224 images: N = 196 patch tokens → 38,416 pairwise attention scores per head per layer.</a:t>
            </a:r>
          </a:p>
          <a:p>
            <a:pPr>
              <a:spcBef>
                <a:spcPts val="200"/>
              </a:spcBef>
            </a:pPr>
            <a:endParaRPr lang="en-US" sz="1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with Single-Stage Pruning: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Early-layer patch representations carry spatial statistics but lack semantic content.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background patch with high L₂-norm at embedding stage may become irrelevant after attention distributes class-discriminative information.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 eliminated early cannot recover — irrecoverable information loss regardless of downstream supervision.</a:t>
            </a:r>
          </a:p>
          <a:p>
            <a:pPr>
              <a:spcBef>
                <a:spcPts val="200"/>
              </a:spcBef>
            </a:pPr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3856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 PTP defers pruning until representations are semantically enriched, combined with FAKD for targeted distillation at pruning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3. Literature Review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spcBef>
                <a:spcPts val="200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ViT Architectures: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LeViT, MobileViT, PVT — reduce complexity via architectural redesign; Swin Transformer uses local shifted windows for linear complexity.</a:t>
            </a:r>
          </a:p>
          <a:p>
            <a:pPr marL="342900" indent="-342900">
              <a:spcBef>
                <a:spcPts val="200"/>
              </a:spcBef>
              <a:buChar char="●"/>
            </a:pP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Pruning Methods: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DynamicViT [NeurIPS 2021] — learned recursive prediction module for binary masks (adds parameters).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EViT [ICLR 2022] — fuses inattentive tokens into aggregate representation (preserves info but complicates inference).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SPViT [ECCV 2022] — soft top-k pruning + logit KD, but distillation not tied to pruning boundaries.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Merging: ToMe [ICLR 2023] — bipartite soft matching without training.</a:t>
            </a:r>
          </a:p>
          <a:p>
            <a:pPr marL="342900" indent="-342900">
              <a:spcBef>
                <a:spcPts val="200"/>
              </a:spcBef>
              <a:buChar char="●"/>
            </a:pP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 for ViTs: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Hinton et al. 2014 — soft-label distillation; DeiT — distillation token; CRD, ReviewKD — feature-level alignment.</a:t>
            </a:r>
          </a:p>
          <a:p>
            <a:pPr marL="342900" indent="-342900">
              <a:spcBef>
                <a:spcPts val="20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Gap: No prior work jointly co-designs pruning schedule timing and distillation locality.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4. Objectives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parameter-free token pruning strategy that defers and distributes token reduction across encoder stages.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distillation objective that provides targeted feature alignment specifically at pruning boundaries — where student-teacher divergence is greatest.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through controlled ablation that pruning timing is the dominant accuracy determinant — not token budget or supervision objective.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 50% token reduction with no accuracy loss — and ideally surpass the dense teacher baseline.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theoretical and empirical basis for the implicit regularization hypothesis of token sparsity.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 applicability across architectures (DeiT, Swin) and scalability to larger models (ViT-L/16, ViT-H/14).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5. Methodology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spcBef>
                <a:spcPts val="200"/>
              </a:spcBef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Progressive Token Pruning (PTP):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12 encoder blocks into 3 equal stages: S₁={1-4}, S₂={5-8}, S₃={9-12}.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S₁: retain top 85% tokens (197→167). After S₂: retain top 50% (167→98). CLS token never pruned.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Scoring: L₂-norm of post-stage hidden representation. R_attn = 0.265× (73.5% attention FLOP reduction).</a:t>
            </a:r>
          </a:p>
          <a:p>
            <a:pPr marL="342900" indent="-342900">
              <a:spcBef>
                <a:spcPts val="200"/>
              </a:spcBef>
              <a:buChar char="●"/>
            </a:pPr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Feature-Aware Knowledge Distillation (FAKD):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Composite loss: L = (1−α)·L_CE + α·L_KD + β·L_feat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L_KD: Temperature-scaled KL divergence (T=4.0). L_feat: MSE on L₂-normalized CLS features at S₁ and S₂ boundaries.</a:t>
            </a:r>
          </a:p>
          <a:p>
            <a:pPr marL="342900" indent="-342900">
              <a:spcBef>
                <a:spcPts val="200"/>
              </a:spcBef>
              <a:buChar char="●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annealed 0.70→0.50 over training. β=0.3 fixed. Label smoothing ε=0.1.</a:t>
            </a:r>
          </a:p>
          <a:p>
            <a:pPr marL="342900" indent="-342900">
              <a:spcBef>
                <a:spcPts val="200"/>
              </a:spcBef>
              <a:buChar char="●"/>
            </a:pPr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 25 epochs, AdamW (lr=5×10⁻⁵), cosine LR, MixUp (α=0.4), RandAugment (n=2,m=9), batch=64, P100 GPU.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6. Results and Discussions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CIFAR-100 Ablation (ViT-B/16) — All at 50% Token Density: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 Teacher (baseline): 87.03% @ 1.000× FLOPs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Sparse CE-only: 78.29% @ 0.250× FLOPs  (−8.74% vs teacher)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Sparse + Logit KD: 77.28% @ 0.250×  (worse than CE-only — T²-scaled KD dominates early training)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Sparse + Feature KD: 84.91% @ 0.250×  (−2.12% vs teacher)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PTP only (CE): 88.98% @ 0.265×  (+1.95% vs teacher — progressive pruning alone beats teacher!)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★ PTP-FAKD (Ours): 89.60% @ 0.265×  (+2.57% vs teacher)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b="1" dirty="0">
                <a:solidFill>
                  <a:srgbClr val="3856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Progressive pruning contributes +10.69pp of accuracy recovery. FAKD adds +0.62pp on top.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CIFAR-10: Logit KD closes 30% of gap between naive sparse (91.97%) and teacher (96.89%).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6. Results — Comparison and Analysis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Prior Methods (CIFAR-100, 50% tokens):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DynamicViT [NeurIPS 2021]: ~85.5%  |  EViT [ICLR 2022]: ~84.9%  |  SPViT [ECCV 2022]: ~85.1%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★ PTP-FAKD (Ours): 89.60%  — best in class, no additional parameters.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None/>
            </a:pP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Basis — Implicit Regularization: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bottleneck: model must maximise I(CLS; label) from fewer tokens → discourages reliance on low-information patches.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Analogous to stochastic depth [Huang et al., 2016] and MAE [He et al., 2022] — both established regularisers.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 Evidence: PTP-FAKD mean entropy on correct predictions = 0.33 vs teacher = 0.41 vs naive = 0.58.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Interpretability: Retained tokens form a forward-pass saliency map at no extra cost — unlike GradCAM.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7. Conclusions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PTP-FAKD achieves 89.60% top-1 on CIFAR-100 at 50% token density and 0.265× attention FLOPs — surpassing the dense ViT-B/16 teacher by 2.57 percentage points.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Pruning timing is the dominant accuracy determinant: Progressive pruning (CE only) already beats the teacher at 88.98% — isolated cleanly through a 2×2 ablation.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PTP-FAKD adds zero parameters over the base ViT-B/16 architecture.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sparsity acts as an implicit regulariser — supported by information-theoretic analysis and empirical entropy evidence.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Retained tokens function as a lightweight forward-pass saliency map — interpretability at no additional cost.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73.5% attention FLOP reduction enables efficient deployment on edge devices, real-time video, and medical imaging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8. Future Scope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ImageNet-1K Evaluation: Validate PTP-FAKD at large-scale to confirm accuracy gains persist beyond CIFAR-scale overfitting pressure.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Broader Architecture Support: Extend to DeiT (direct), Swin Transformer (average-pooled scoring), and hybrid CNN-ViT models.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Attention-Weight Scoring: Replace L₂-norm criterion with CLS attention-weight-based scoring for aggressive token budgets (≤40%).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Wall-Clock Benchmarking: Measure actual latency on edge hardware with FlashAttention-2 variable-length kernel support.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 Evaluation: Test on CIFAR-100-C (corruption benchmarks) and adversarial perturbation studies.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har char="●"/>
            </a:pP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Downstream Tasks: Evaluate on object detection (COCO) and semantic segmentation pipelines.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 txBox="1">
            <a:spLocks/>
          </p:cNvSpPr>
          <p:nvPr/>
        </p:nvSpPr>
        <p:spPr>
          <a:xfrm>
            <a:off x="1442514" y="356474"/>
            <a:ext cx="10514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9. References</a:t>
            </a:r>
          </a:p>
        </p:txBody>
      </p:sp>
      <p:sp>
        <p:nvSpPr>
          <p:cNvPr id="5" name="ContentBox"/>
          <p:cNvSpPr txBox="1">
            <a:spLocks/>
          </p:cNvSpPr>
          <p:nvPr/>
        </p:nvSpPr>
        <p:spPr>
          <a:xfrm>
            <a:off x="457200" y="1143000"/>
            <a:ext cx="11277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[1] Dosovitskiy et al., “An image is worth 16x16 words,” ICLR 2021.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[4] Rao et al., “DynamicViT: Efficient vision transformers with dynamic token sparsification,” NeurIPS 2021.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[5] Liang et al., “Not all patches are what you need,” ICLR 2022.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[6] Bolya et al., “Token merging: Your ViT but faster,” ICLR 2023.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[8] Hinton et al., “Distilling the knowledge in a neural network,” NeurIPS Workshop 2014.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[12] Liu et al., “Swin Transformer: Hierarchical vision transformer using shifted windows,” ICCV 2021.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[13] Kong et al., “SPViT: Enabling faster vision transformers via latency-aware soft token pruning,” ECCV 2022.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[17] Touvron et al., “Training data-efficient image transformers,” ICML 2021.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[23] Huang et al., “Deep networks with stochastic depth,” ECCV 2016.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[25] He et al., “Masked autoencoders are scalable vision learners,” CVPR 2022.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[26] Loshchilov &amp; Hutter, “Decoupled weight decay regularization,” ICLR 2019.</a:t>
            </a:r>
          </a:p>
          <a:p>
            <a:pPr marL="342900" indent="-342900">
              <a:lnSpc>
                <a:spcPts val="1600"/>
              </a:lnSpc>
              <a:spcBef>
                <a:spcPts val="200"/>
              </a:spcBef>
              <a:buChar char="●"/>
            </a:pPr>
            <a:r>
              <a:rPr lang="en-US" sz="1600" b="0" dirty="0">
                <a:solidFill>
                  <a:schemeClr val="tx1"/>
                </a:solidFill>
                <a:latin typeface="Calibri"/>
                <a:cs typeface="Calibri"/>
              </a:rPr>
              <a:t>[29] Krizhevsky, “Learning multiple layers of features from tiny images,” Tech Report 2009.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angePanel"/>
          <p:cNvSpPr>
            <a:spLocks noGrp="1"/>
          </p:cNvSpPr>
          <p:nvPr/>
        </p:nvSpPr>
        <p:spPr>
          <a:xfrm>
            <a:off x="5943600" y="0"/>
            <a:ext cx="6248400" cy="6858000"/>
          </a:xfrm>
          <a:prstGeom prst="rect">
            <a:avLst/>
          </a:prstGeom>
          <a:solidFill>
            <a:srgbClr val="E07B2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hankYouText"/>
          <p:cNvSpPr txBox="1">
            <a:spLocks/>
          </p:cNvSpPr>
          <p:nvPr/>
        </p:nvSpPr>
        <p:spPr>
          <a:xfrm>
            <a:off x="6100000" y="2400000"/>
            <a:ext cx="5800000" cy="1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AuthorInfo"/>
          <p:cNvSpPr txBox="1">
            <a:spLocks/>
          </p:cNvSpPr>
          <p:nvPr/>
        </p:nvSpPr>
        <p:spPr>
          <a:xfrm>
            <a:off x="457200" y="1600000"/>
            <a:ext cx="520000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MVJ College of Engineering</a:t>
            </a:r>
          </a:p>
          <a:p>
            <a:pPr algn="l">
              <a:buNone/>
            </a:pPr>
            <a:r>
              <a:rPr lang="en-US" sz="1400" b="0" dirty="0">
                <a:solidFill>
                  <a:srgbClr val="333333"/>
                </a:solidFill>
                <a:latin typeface="Calibri"/>
              </a:rPr>
              <a:t>Near ITPB, Whitefield, Bangalore-560 067</a:t>
            </a:r>
          </a:p>
          <a:p>
            <a:pPr algn="l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</a:p>
          <a:p>
            <a:pPr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/>
              </a:rPr>
              <a:t>Authors:</a:t>
            </a:r>
          </a:p>
          <a:p>
            <a:pPr algn="l">
              <a:buNone/>
            </a:pPr>
            <a:r>
              <a:rPr lang="en-US" sz="1300" b="0" dirty="0">
                <a:solidFill>
                  <a:srgbClr val="333333"/>
                </a:solidFill>
                <a:latin typeface="Calibri"/>
              </a:rPr>
              <a:t>Omswaroop T M, Sushmith S Mokashi, Bathala Harsha,</a:t>
            </a:r>
          </a:p>
          <a:p>
            <a:pPr algn="l">
              <a:buNone/>
            </a:pPr>
            <a:r>
              <a:rPr lang="en-US" sz="1300" b="0" dirty="0">
                <a:solidFill>
                  <a:srgbClr val="333333"/>
                </a:solidFill>
                <a:latin typeface="Calibri"/>
              </a:rPr>
              <a:t>Pranshu Jain, Prof. Shashikala H K</a:t>
            </a:r>
          </a:p>
          <a:p>
            <a:pPr algn="l">
              <a:buNone/>
            </a:pPr>
            <a:r>
              <a:rPr lang="en-US" sz="1300" b="0" dirty="0">
                <a:solidFill>
                  <a:srgbClr val="555555"/>
                </a:solidFill>
                <a:latin typeface="Calibri"/>
              </a:rPr>
              <a:t>Jain (Deemed-to-be University), Bengaluru</a:t>
            </a:r>
          </a:p>
          <a:p>
            <a:pPr algn="l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</a:p>
          <a:p>
            <a:pPr algn="l">
              <a:buNone/>
            </a:pPr>
            <a:r>
              <a:rPr lang="en-US" sz="1400" b="1" dirty="0">
                <a:solidFill>
                  <a:srgbClr val="C43727"/>
                </a:solidFill>
                <a:latin typeface="Calibri"/>
              </a:rPr>
              <a:t>Paper ID: 1523 | IECCT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8337</TotalTime>
  <Words>1611</Words>
  <Application>Microsoft Macintosh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Museo 300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Omswaroop T M</cp:lastModifiedBy>
  <cp:revision>430</cp:revision>
  <dcterms:created xsi:type="dcterms:W3CDTF">2020-04-16T15:12:46Z</dcterms:created>
  <dcterms:modified xsi:type="dcterms:W3CDTF">2026-04-07T18:20:06Z</dcterms:modified>
</cp:coreProperties>
</file>